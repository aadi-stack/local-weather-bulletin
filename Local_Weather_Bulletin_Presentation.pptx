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LOCAL WEATHER BULLETIN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2DCEB"/>
                </a:solidFill>
              </a:defRPr>
            </a:pPr>
            <a:r>
              <a:t>Full-Stack Weather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Presented by Aadit Shukla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FCDEB"/>
                </a:solidFill>
              </a:defRPr>
            </a:pPr>
            <a:r>
              <a:t>Live Demo: https://local-weather-bulletin.onrender.com/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2740"/>
                </a:solidFill>
              </a:defRPr>
            </a:pPr>
            <a:r>
              <a:t>1.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676"/>
                </a:solidFill>
              </a:defRPr>
            </a:pPr>
            <a:r>
              <a:t>Why build a dedicated weather application?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83280" cy="3291840"/>
          </a:xfrm>
          <a:prstGeom prst="roundRect">
            <a:avLst/>
          </a:prstGeom>
          <a:solidFill>
            <a:srgbClr val="F2F6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73152" cy="3291840"/>
          </a:xfrm>
          <a:prstGeom prst="rect">
            <a:avLst/>
          </a:prstGeom>
          <a:solidFill>
            <a:srgbClr val="2D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73351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740"/>
                </a:solidFill>
              </a:defRPr>
            </a:pPr>
            <a:r>
              <a:t>Fast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67128"/>
            <a:ext cx="2971800" cy="2514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D37"/>
                </a:solidFill>
              </a:defRPr>
            </a:pPr>
            <a:r>
              <a:t>Users should be able to search a location and quickly understand current weather conditions.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3383280" cy="3291840"/>
          </a:xfrm>
          <a:prstGeom prst="roundRect">
            <a:avLst/>
          </a:prstGeom>
          <a:solidFill>
            <a:srgbClr val="F2F6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508760"/>
            <a:ext cx="73152" cy="3291840"/>
          </a:xfrm>
          <a:prstGeom prst="rect">
            <a:avLst/>
          </a:prstGeom>
          <a:solidFill>
            <a:srgbClr val="35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673351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740"/>
                </a:solidFill>
              </a:defRPr>
            </a:pPr>
            <a:r>
              <a:t>Location handling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67128"/>
            <a:ext cx="2971800" cy="2514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D37"/>
                </a:solidFill>
              </a:defRPr>
            </a:pPr>
            <a:r>
              <a:t>A useful weather experience needs geocoding, coordinates and reverse-geocoding support.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08760"/>
            <a:ext cx="3383280" cy="3291840"/>
          </a:xfrm>
          <a:prstGeom prst="roundRect">
            <a:avLst/>
          </a:prstGeom>
          <a:solidFill>
            <a:srgbClr val="F2F6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508760"/>
            <a:ext cx="73152" cy="3291840"/>
          </a:xfrm>
          <a:prstGeom prst="rect">
            <a:avLst/>
          </a:prstGeom>
          <a:solidFill>
            <a:srgbClr val="B0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673351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740"/>
                </a:solidFill>
              </a:defRPr>
            </a:pPr>
            <a:r>
              <a:t>Reliable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67128"/>
            <a:ext cx="2971800" cy="2514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D37"/>
                </a:solidFill>
              </a:defRPr>
            </a:pPr>
            <a:r>
              <a:t>The frontend needs a backend API layer for validation, routing, security and external service integration.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676"/>
                </a:solidFill>
              </a:defRPr>
            </a:pPr>
            <a:r>
              <a:t>Local Weather Bulletin  •  Aadit Shukla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2740"/>
                </a:solidFill>
              </a:defRPr>
            </a:pPr>
            <a:r>
              <a:t>2. 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62D37"/>
                </a:solidFill>
              </a:defRPr>
            </a:pPr>
            <a:r>
              <a:t>• Build a responsive, user-friendly weather application.</a:t>
            </a:r>
          </a:p>
          <a:p>
            <a:pPr>
              <a:spcAft>
                <a:spcPts val="1000"/>
              </a:spcAft>
              <a:defRPr sz="1900">
                <a:solidFill>
                  <a:srgbClr val="262D37"/>
                </a:solidFill>
              </a:defRPr>
            </a:pPr>
            <a:r>
              <a:t>• Provide location search and weather information through REST APIs.</a:t>
            </a:r>
          </a:p>
          <a:p>
            <a:pPr>
              <a:spcAft>
                <a:spcPts val="1000"/>
              </a:spcAft>
              <a:defRPr sz="1900">
                <a:solidFill>
                  <a:srgbClr val="262D37"/>
                </a:solidFill>
              </a:defRPr>
            </a:pPr>
            <a:r>
              <a:t>• Separate frontend responsibilities from backend/API responsibilities.</a:t>
            </a:r>
          </a:p>
          <a:p>
            <a:pPr>
              <a:spcAft>
                <a:spcPts val="1000"/>
              </a:spcAft>
              <a:defRPr sz="1900">
                <a:solidFill>
                  <a:srgbClr val="262D37"/>
                </a:solidFill>
              </a:defRPr>
            </a:pPr>
            <a:r>
              <a:t>• Use environment variables for sensitive configuration.</a:t>
            </a:r>
          </a:p>
          <a:p>
            <a:pPr>
              <a:spcAft>
                <a:spcPts val="1000"/>
              </a:spcAft>
              <a:defRPr sz="1900">
                <a:solidFill>
                  <a:srgbClr val="262D37"/>
                </a:solidFill>
              </a:defRPr>
            </a:pPr>
            <a:r>
              <a:t>• Add production-oriented middleware: security headers, compression, logging and rate limiting.</a:t>
            </a:r>
          </a:p>
          <a:p>
            <a:pPr>
              <a:spcAft>
                <a:spcPts val="1000"/>
              </a:spcAft>
              <a:defRPr sz="1900">
                <a:solidFill>
                  <a:srgbClr val="262D37"/>
                </a:solidFill>
              </a:defRPr>
            </a:pPr>
            <a:r>
              <a:t>• Deploy the application publicly so it can be demonstrated and shared.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676"/>
                </a:solidFill>
              </a:defRPr>
            </a:pPr>
            <a:r>
              <a:t>Local Weather Bulletin  •  Aadit Shukla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2740"/>
                </a:solidFill>
              </a:defRPr>
            </a:pPr>
            <a:r>
              <a:t>3. 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337560" cy="1737360"/>
          </a:xfrm>
          <a:prstGeom prst="roundRect">
            <a:avLst/>
          </a:prstGeom>
          <a:solidFill>
            <a:srgbClr val="F2F6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" cy="1737360"/>
          </a:xfrm>
          <a:prstGeom prst="rect">
            <a:avLst/>
          </a:prstGeom>
          <a:solidFill>
            <a:srgbClr val="2D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81912"/>
            <a:ext cx="2926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740"/>
                </a:solidFill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75688"/>
            <a:ext cx="2926079" cy="960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D37"/>
                </a:solidFill>
              </a:defRPr>
            </a:pPr>
            <a:r>
              <a:t>HTML • CSS • JavaScript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337560" cy="1737360"/>
          </a:xfrm>
          <a:prstGeom prst="roundRect">
            <a:avLst/>
          </a:prstGeom>
          <a:solidFill>
            <a:srgbClr val="F2F6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417320"/>
            <a:ext cx="73152" cy="1737360"/>
          </a:xfrm>
          <a:prstGeom prst="rect">
            <a:avLst/>
          </a:prstGeom>
          <a:solidFill>
            <a:srgbClr val="2D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81912"/>
            <a:ext cx="2926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740"/>
                </a:solidFill>
              </a:defRPr>
            </a:pPr>
            <a: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075688"/>
            <a:ext cx="2926079" cy="960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D37"/>
                </a:solidFill>
              </a:defRPr>
            </a:pPr>
            <a:r>
              <a:t>Node.js • Express.js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417320"/>
            <a:ext cx="3337560" cy="1737360"/>
          </a:xfrm>
          <a:prstGeom prst="roundRect">
            <a:avLst/>
          </a:prstGeom>
          <a:solidFill>
            <a:srgbClr val="F2F6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80" y="1417320"/>
            <a:ext cx="73152" cy="1737360"/>
          </a:xfrm>
          <a:prstGeom prst="rect">
            <a:avLst/>
          </a:prstGeom>
          <a:solidFill>
            <a:srgbClr val="2D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581912"/>
            <a:ext cx="2926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740"/>
                </a:solidFill>
              </a:defRPr>
            </a:pPr>
            <a:r>
              <a:t>APIs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075688"/>
            <a:ext cx="2926079" cy="960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D37"/>
                </a:solidFill>
              </a:defRPr>
            </a:pPr>
            <a:r>
              <a:t>Weather • Geocoding • Reverse Geocoding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66160"/>
            <a:ext cx="3337560" cy="1737360"/>
          </a:xfrm>
          <a:prstGeom prst="roundRect">
            <a:avLst/>
          </a:prstGeom>
          <a:solidFill>
            <a:srgbClr val="F2F6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566160"/>
            <a:ext cx="73152" cy="1737360"/>
          </a:xfrm>
          <a:prstGeom prst="rect">
            <a:avLst/>
          </a:prstGeom>
          <a:solidFill>
            <a:srgbClr val="2D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730752"/>
            <a:ext cx="2926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740"/>
                </a:solidFill>
              </a:defRPr>
            </a:pPr>
            <a:r>
              <a:t>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224528"/>
            <a:ext cx="2926079" cy="960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D37"/>
                </a:solidFill>
              </a:defRPr>
            </a:pPr>
            <a:r>
              <a:t>Helmet • CORS • Rate Limiting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566160"/>
            <a:ext cx="3337560" cy="1737360"/>
          </a:xfrm>
          <a:prstGeom prst="roundRect">
            <a:avLst/>
          </a:prstGeom>
          <a:solidFill>
            <a:srgbClr val="F2F6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3566160"/>
            <a:ext cx="73152" cy="1737360"/>
          </a:xfrm>
          <a:prstGeom prst="rect">
            <a:avLst/>
          </a:prstGeom>
          <a:solidFill>
            <a:srgbClr val="2D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3730752"/>
            <a:ext cx="2926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740"/>
                </a:solidFill>
              </a:defRPr>
            </a:pPr>
            <a:r>
              <a:t>Dev Tools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224528"/>
            <a:ext cx="2926079" cy="960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D37"/>
                </a:solidFill>
              </a:defRPr>
            </a:pPr>
            <a:r>
              <a:t>Git • GitHub • npm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80" y="3566160"/>
            <a:ext cx="3337560" cy="1737360"/>
          </a:xfrm>
          <a:prstGeom prst="roundRect">
            <a:avLst/>
          </a:prstGeom>
          <a:solidFill>
            <a:srgbClr val="F2F6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55280" y="3566160"/>
            <a:ext cx="73152" cy="1737360"/>
          </a:xfrm>
          <a:prstGeom prst="rect">
            <a:avLst/>
          </a:prstGeom>
          <a:solidFill>
            <a:srgbClr val="2D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80" y="3730752"/>
            <a:ext cx="2926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740"/>
                </a:solidFill>
              </a:defRPr>
            </a:pPr>
            <a:r>
              <a:t>Deployment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4224528"/>
            <a:ext cx="2926079" cy="960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D37"/>
                </a:solidFill>
              </a:defRPr>
            </a:pPr>
            <a:r>
              <a:t>Render • Environment Variables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676"/>
                </a:solidFill>
              </a:defRPr>
            </a:pPr>
            <a:r>
              <a:t>Local Weather Bulletin  •  Aadit Shukla           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2740"/>
                </a:solidFill>
              </a:defRPr>
            </a:pPr>
            <a:r>
              <a:t>4.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676"/>
                </a:solidFill>
              </a:defRPr>
            </a:pPr>
            <a:r>
              <a:t>Frontend → Express backend → external 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40280"/>
            <a:ext cx="2057400" cy="1005840"/>
          </a:xfrm>
          <a:prstGeom prst="roundRect">
            <a:avLst/>
          </a:prstGeom>
          <a:solidFill>
            <a:srgbClr val="F2F6FA"/>
          </a:solidFill>
          <a:ln>
            <a:solidFill>
              <a:srgbClr val="2D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740"/>
                </a:solidFill>
              </a:defRPr>
            </a:pPr>
            <a:r>
              <a:t>User / Browser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2240280"/>
            <a:ext cx="2286000" cy="1005840"/>
          </a:xfrm>
          <a:prstGeom prst="roundRect">
            <a:avLst/>
          </a:prstGeom>
          <a:solidFill>
            <a:srgbClr val="F2F6FA"/>
          </a:solidFill>
          <a:ln>
            <a:solidFill>
              <a:srgbClr val="2D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740"/>
                </a:solidFill>
              </a:defRPr>
            </a:pPr>
            <a:r>
              <a:t>Frontend</a:t>
            </a:r>
            <a:br/>
            <a:r>
              <a:t>HTML / CSS / JS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2240280"/>
            <a:ext cx="2286000" cy="1005840"/>
          </a:xfrm>
          <a:prstGeom prst="roundRect">
            <a:avLst/>
          </a:prstGeom>
          <a:solidFill>
            <a:srgbClr val="F2F6FA"/>
          </a:solidFill>
          <a:ln>
            <a:solidFill>
              <a:srgbClr val="2D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740"/>
                </a:solidFill>
              </a:defRPr>
            </a:pPr>
            <a:r>
              <a:t>Node.js +</a:t>
            </a:r>
            <a:br/>
            <a:r>
              <a:t>Express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1417320"/>
            <a:ext cx="2011680" cy="868680"/>
          </a:xfrm>
          <a:prstGeom prst="roundRect">
            <a:avLst/>
          </a:prstGeom>
          <a:solidFill>
            <a:srgbClr val="F2F6FA"/>
          </a:solidFill>
          <a:ln>
            <a:solidFill>
              <a:srgbClr val="2D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740"/>
                </a:solidFill>
              </a:defRPr>
            </a:pPr>
            <a:r>
              <a:t>Weather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2514600"/>
            <a:ext cx="2011680" cy="868680"/>
          </a:xfrm>
          <a:prstGeom prst="roundRect">
            <a:avLst/>
          </a:prstGeom>
          <a:solidFill>
            <a:srgbClr val="F2F6FA"/>
          </a:solidFill>
          <a:ln>
            <a:solidFill>
              <a:srgbClr val="2D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740"/>
                </a:solidFill>
              </a:defRPr>
            </a:pPr>
            <a:r>
              <a:t>Geocode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18320" y="3611880"/>
            <a:ext cx="2011680" cy="868680"/>
          </a:xfrm>
          <a:prstGeom prst="roundRect">
            <a:avLst/>
          </a:prstGeom>
          <a:solidFill>
            <a:srgbClr val="F2F6FA"/>
          </a:solidFill>
          <a:ln>
            <a:solidFill>
              <a:srgbClr val="2D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740"/>
                </a:solidFill>
              </a:defRPr>
            </a:pPr>
            <a:r>
              <a:t>Reverse API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88920" y="2743200"/>
            <a:ext cx="640080" cy="0"/>
          </a:xfrm>
          <a:prstGeom prst="line">
            <a:avLst/>
          </a:prstGeom>
          <a:ln w="25400">
            <a:solidFill>
              <a:srgbClr val="2D7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760720" y="2743200"/>
            <a:ext cx="640080" cy="0"/>
          </a:xfrm>
          <a:prstGeom prst="line">
            <a:avLst/>
          </a:prstGeom>
          <a:ln w="25400">
            <a:solidFill>
              <a:srgbClr val="2D7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8732520" y="1874519"/>
            <a:ext cx="594360" cy="868681"/>
          </a:xfrm>
          <a:prstGeom prst="line">
            <a:avLst/>
          </a:prstGeom>
          <a:ln w="25400">
            <a:solidFill>
              <a:srgbClr val="2D7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32520" y="2743200"/>
            <a:ext cx="594360" cy="182880"/>
          </a:xfrm>
          <a:prstGeom prst="line">
            <a:avLst/>
          </a:prstGeom>
          <a:ln w="25400">
            <a:solidFill>
              <a:srgbClr val="2D7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732520" y="2743200"/>
            <a:ext cx="594360" cy="1280160"/>
          </a:xfrm>
          <a:prstGeom prst="line">
            <a:avLst/>
          </a:prstGeom>
          <a:ln w="25400">
            <a:solidFill>
              <a:srgbClr val="2D7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4400" y="493776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62D37"/>
                </a:solidFill>
              </a:defRPr>
            </a:pPr>
            <a:r>
              <a:t>The backend acts as an abstraction layer: it receives requests, routes them, calls providers, and returns application-friendly responses.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676"/>
                </a:solidFill>
              </a:defRPr>
            </a:pPr>
            <a:r>
              <a:t>Local Weather Bulletin  •  Aadit Shukla             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2740"/>
                </a:solidFill>
              </a:defRPr>
            </a:pPr>
            <a:r>
              <a:t>5. Application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676"/>
                </a:solidFill>
              </a:defRPr>
            </a:pPr>
            <a:r>
              <a:t>Example: user searches for a city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03120"/>
            <a:ext cx="164592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2D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740"/>
                </a:solidFill>
              </a:defRPr>
            </a:pPr>
            <a:r>
              <a:t>1</a:t>
            </a:r>
            <a:br/>
            <a:r>
              <a:t>Search location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58568" y="2724912"/>
            <a:ext cx="237744" cy="0"/>
          </a:xfrm>
          <a:prstGeom prst="line">
            <a:avLst/>
          </a:prstGeom>
          <a:ln w="25400">
            <a:solidFill>
              <a:srgbClr val="2D7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514600" y="2103120"/>
            <a:ext cx="164592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2D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740"/>
                </a:solidFill>
              </a:defRPr>
            </a:pPr>
            <a:r>
              <a:t>2</a:t>
            </a:r>
            <a:br/>
            <a:r>
              <a:t>Geocode location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78808" y="2724912"/>
            <a:ext cx="237744" cy="0"/>
          </a:xfrm>
          <a:prstGeom prst="line">
            <a:avLst/>
          </a:prstGeom>
          <a:ln w="25400">
            <a:solidFill>
              <a:srgbClr val="2D7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434840" y="2103120"/>
            <a:ext cx="164592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2D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740"/>
                </a:solidFill>
              </a:defRPr>
            </a:pPr>
            <a:r>
              <a:t>3</a:t>
            </a:r>
            <a:br/>
            <a:r>
              <a:t>Get coordinates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9048" y="2724912"/>
            <a:ext cx="237744" cy="0"/>
          </a:xfrm>
          <a:prstGeom prst="line">
            <a:avLst/>
          </a:prstGeom>
          <a:ln w="25400">
            <a:solidFill>
              <a:srgbClr val="2D7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55080" y="2103120"/>
            <a:ext cx="164592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2D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740"/>
                </a:solidFill>
              </a:defRPr>
            </a:pPr>
            <a:r>
              <a:t>4</a:t>
            </a:r>
            <a:br/>
            <a:r>
              <a:t>Fetch weather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019288" y="2724912"/>
            <a:ext cx="237744" cy="0"/>
          </a:xfrm>
          <a:prstGeom prst="line">
            <a:avLst/>
          </a:prstGeom>
          <a:ln w="25400">
            <a:solidFill>
              <a:srgbClr val="2D7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275320" y="2103120"/>
            <a:ext cx="164592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2D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740"/>
                </a:solidFill>
              </a:defRPr>
            </a:pPr>
            <a:r>
              <a:t>5</a:t>
            </a:r>
            <a:br/>
            <a:r>
              <a:t>Process response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39528" y="2724912"/>
            <a:ext cx="237744" cy="0"/>
          </a:xfrm>
          <a:prstGeom prst="line">
            <a:avLst/>
          </a:prstGeom>
          <a:ln w="25400">
            <a:solidFill>
              <a:srgbClr val="2D7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195560" y="2103120"/>
            <a:ext cx="164592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2D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740"/>
                </a:solidFill>
              </a:defRPr>
            </a:pPr>
            <a:r>
              <a:t>6</a:t>
            </a:r>
            <a:br/>
            <a:r>
              <a:t>Display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676"/>
                </a:solidFill>
              </a:defRPr>
            </a:pPr>
            <a:r>
              <a:t>Local Weather Bulletin  •  Aadit Shukla             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2740"/>
                </a:solidFill>
              </a:defRPr>
            </a:pPr>
            <a:r>
              <a:t>6. Backend &amp; API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120640" cy="1600200"/>
          </a:xfrm>
          <a:prstGeom prst="roundRect">
            <a:avLst/>
          </a:prstGeom>
          <a:solidFill>
            <a:srgbClr val="F2F6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" cy="1600200"/>
          </a:xfrm>
          <a:prstGeom prst="rect">
            <a:avLst/>
          </a:prstGeom>
          <a:solidFill>
            <a:srgbClr val="2D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81912"/>
            <a:ext cx="47091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740"/>
                </a:solidFill>
              </a:defRPr>
            </a:pPr>
            <a:r>
              <a:t>/api/health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75688"/>
            <a:ext cx="47091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D37"/>
                </a:solidFill>
              </a:defRPr>
            </a:pPr>
            <a:r>
              <a:t>Health/status endpoint for deployment checks.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120640" cy="1600200"/>
          </a:xfrm>
          <a:prstGeom prst="roundRect">
            <a:avLst/>
          </a:prstGeom>
          <a:solidFill>
            <a:srgbClr val="F2F6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417320"/>
            <a:ext cx="73152" cy="1600200"/>
          </a:xfrm>
          <a:prstGeom prst="rect">
            <a:avLst/>
          </a:prstGeom>
          <a:solidFill>
            <a:srgbClr val="2D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81912"/>
            <a:ext cx="47091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740"/>
                </a:solidFill>
              </a:defRPr>
            </a:pPr>
            <a:r>
              <a:t>/api/weather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075688"/>
            <a:ext cx="47091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D37"/>
                </a:solidFill>
              </a:defRPr>
            </a:pPr>
            <a:r>
              <a:t>Weather-related application requests.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29000"/>
            <a:ext cx="5120640" cy="1600200"/>
          </a:xfrm>
          <a:prstGeom prst="roundRect">
            <a:avLst/>
          </a:prstGeom>
          <a:solidFill>
            <a:srgbClr val="F2F6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429000"/>
            <a:ext cx="73152" cy="1600200"/>
          </a:xfrm>
          <a:prstGeom prst="rect">
            <a:avLst/>
          </a:prstGeom>
          <a:solidFill>
            <a:srgbClr val="35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593592"/>
            <a:ext cx="47091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740"/>
                </a:solidFill>
              </a:defRPr>
            </a:pPr>
            <a:r>
              <a:t>/api/geocode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87368"/>
            <a:ext cx="47091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D37"/>
                </a:solidFill>
              </a:defRPr>
            </a:pPr>
            <a:r>
              <a:t>Convert a place name into coordinates.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429000"/>
            <a:ext cx="5120640" cy="1600200"/>
          </a:xfrm>
          <a:prstGeom prst="roundRect">
            <a:avLst/>
          </a:prstGeom>
          <a:solidFill>
            <a:srgbClr val="F2F6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429000"/>
            <a:ext cx="73152" cy="1600200"/>
          </a:xfrm>
          <a:prstGeom prst="rect">
            <a:avLst/>
          </a:prstGeom>
          <a:solidFill>
            <a:srgbClr val="35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593592"/>
            <a:ext cx="47091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740"/>
                </a:solidFill>
              </a:defRPr>
            </a:pPr>
            <a:r>
              <a:t>/api/reverse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087368"/>
            <a:ext cx="47091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D37"/>
                </a:solidFill>
              </a:defRPr>
            </a:pPr>
            <a:r>
              <a:t>Convert coordinates back into a location.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48640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262D37"/>
                </a:solidFill>
              </a:defRPr>
            </a:pPr>
            <a:r>
              <a:t>• Centralized error handling</a:t>
            </a:r>
          </a:p>
          <a:p>
            <a:pPr>
              <a:spcAft>
                <a:spcPts val="1000"/>
              </a:spcAft>
              <a:defRPr sz="1200">
                <a:solidFill>
                  <a:srgbClr val="262D37"/>
                </a:solidFill>
              </a:defRPr>
            </a:pPr>
            <a:r>
              <a:t>• Rate limiting on /api/*</a:t>
            </a:r>
          </a:p>
          <a:p>
            <a:pPr>
              <a:spcAft>
                <a:spcPts val="1000"/>
              </a:spcAft>
              <a:defRPr sz="1200">
                <a:solidFill>
                  <a:srgbClr val="262D37"/>
                </a:solidFill>
              </a:defRPr>
            </a:pPr>
            <a:r>
              <a:t>• Security headers with Helmet</a:t>
            </a:r>
          </a:p>
          <a:p>
            <a:pPr>
              <a:spcAft>
                <a:spcPts val="1000"/>
              </a:spcAft>
              <a:defRPr sz="1200">
                <a:solidFill>
                  <a:srgbClr val="262D37"/>
                </a:solidFill>
              </a:defRPr>
            </a:pPr>
            <a:r>
              <a:t>• Compression and HTTP request logging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676"/>
                </a:solidFill>
              </a:defRPr>
            </a:pPr>
            <a:r>
              <a:t>Local Weather Bulletin  •  Aadit Shukla                            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2740"/>
                </a:solidFill>
              </a:defRPr>
            </a:pPr>
            <a:r>
              <a:t>7. Security &amp;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676"/>
                </a:solidFill>
              </a:defRPr>
            </a:pPr>
            <a:r>
              <a:t>Keep secrets out of source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56032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2D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740"/>
                </a:solidFill>
              </a:defRPr>
            </a:pPr>
            <a:r>
              <a:t>Local .env</a:t>
            </a:r>
            <a:br/>
            <a:r>
              <a:t>(real secret)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0" y="1828800"/>
            <a:ext cx="256032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2D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740"/>
                </a:solidFill>
              </a:defRPr>
            </a:pPr>
            <a:r>
              <a:t>process.env</a:t>
            </a:r>
            <a:br/>
            <a:r>
              <a:t>(runtime access)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1828800"/>
            <a:ext cx="256032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2D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740"/>
                </a:solidFill>
              </a:defRPr>
            </a:pPr>
            <a:r>
              <a:t>Render Environment</a:t>
            </a:r>
            <a:br/>
            <a:r>
              <a:t>Variables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429000" y="2377440"/>
            <a:ext cx="1280160" cy="0"/>
          </a:xfrm>
          <a:prstGeom prst="line">
            <a:avLst/>
          </a:prstGeom>
          <a:ln w="25400">
            <a:solidFill>
              <a:srgbClr val="2D7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406640" y="2377440"/>
            <a:ext cx="1280160" cy="0"/>
          </a:xfrm>
          <a:prstGeom prst="line">
            <a:avLst/>
          </a:prstGeom>
          <a:ln w="25400">
            <a:solidFill>
              <a:srgbClr val="2D7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400" y="36576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2D37"/>
                </a:solidFill>
              </a:defRPr>
            </a:pPr>
            <a:r>
              <a:t>• .env is excluded from Git.</a:t>
            </a:r>
          </a:p>
          <a:p>
            <a:pPr>
              <a:spcAft>
                <a:spcPts val="1000"/>
              </a:spcAft>
              <a:defRPr sz="1700">
                <a:solidFill>
                  <a:srgbClr val="262D37"/>
                </a:solidFill>
              </a:defRPr>
            </a:pPr>
            <a:r>
              <a:t>• .env.example contains placeholders only.</a:t>
            </a:r>
          </a:p>
          <a:p>
            <a:pPr>
              <a:spcAft>
                <a:spcPts val="1000"/>
              </a:spcAft>
              <a:defRPr sz="1700">
                <a:solidFill>
                  <a:srgbClr val="262D37"/>
                </a:solidFill>
              </a:defRPr>
            </a:pPr>
            <a:r>
              <a:t>• Production secrets are configured in Render, not committed to GitHub.</a:t>
            </a:r>
          </a:p>
          <a:p>
            <a:pPr>
              <a:spcAft>
                <a:spcPts val="1000"/>
              </a:spcAft>
              <a:defRPr sz="1700">
                <a:solidFill>
                  <a:srgbClr val="262D37"/>
                </a:solidFill>
              </a:defRPr>
            </a:pPr>
            <a:r>
              <a:t>• GitHub push protection helps prevent credentials from entering the remote repository.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676"/>
                </a:solidFill>
              </a:defRPr>
            </a:pPr>
            <a:r>
              <a:t>Local Weather Bulletin  •  Aadit Shukla                              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2740"/>
                </a:solidFill>
              </a:defRPr>
            </a:pPr>
            <a:r>
              <a:t>8. Production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676"/>
                </a:solidFill>
              </a:defRPr>
            </a:pPr>
            <a:r>
              <a:t>GitHub → Render → public URL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2103120" cy="1005840"/>
          </a:xfrm>
          <a:prstGeom prst="roundRect">
            <a:avLst/>
          </a:prstGeom>
          <a:solidFill>
            <a:srgbClr val="F2F6FA"/>
          </a:solidFill>
          <a:ln>
            <a:solidFill>
              <a:srgbClr val="2D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740"/>
                </a:solidFill>
              </a:defRPr>
            </a:pPr>
            <a:r>
              <a:t>GitHub</a:t>
            </a:r>
            <a:br/>
            <a:r>
              <a:t>main branch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360" y="2697480"/>
            <a:ext cx="594360" cy="0"/>
          </a:xfrm>
          <a:prstGeom prst="line">
            <a:avLst/>
          </a:prstGeom>
          <a:ln w="25400">
            <a:solidFill>
              <a:srgbClr val="2D7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566160" y="2194560"/>
            <a:ext cx="2103120" cy="1005840"/>
          </a:xfrm>
          <a:prstGeom prst="roundRect">
            <a:avLst/>
          </a:prstGeom>
          <a:solidFill>
            <a:srgbClr val="F2F6FA"/>
          </a:solidFill>
          <a:ln>
            <a:solidFill>
              <a:srgbClr val="2D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740"/>
                </a:solidFill>
              </a:defRPr>
            </a:pPr>
            <a:r>
              <a:t>Render</a:t>
            </a:r>
            <a:br/>
            <a:r>
              <a:t>Web Service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15000" y="2697480"/>
            <a:ext cx="594360" cy="0"/>
          </a:xfrm>
          <a:prstGeom prst="line">
            <a:avLst/>
          </a:prstGeom>
          <a:ln w="25400">
            <a:solidFill>
              <a:srgbClr val="2D7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00800" y="2194560"/>
            <a:ext cx="2103120" cy="1005840"/>
          </a:xfrm>
          <a:prstGeom prst="roundRect">
            <a:avLst/>
          </a:prstGeom>
          <a:solidFill>
            <a:srgbClr val="F2F6FA"/>
          </a:solidFill>
          <a:ln>
            <a:solidFill>
              <a:srgbClr val="2D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740"/>
                </a:solidFill>
              </a:defRPr>
            </a:pPr>
            <a:r>
              <a:t>Node.js</a:t>
            </a:r>
            <a:br/>
            <a:r>
              <a:t>npm start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549640" y="2697480"/>
            <a:ext cx="594360" cy="0"/>
          </a:xfrm>
          <a:prstGeom prst="line">
            <a:avLst/>
          </a:prstGeom>
          <a:ln w="25400">
            <a:solidFill>
              <a:srgbClr val="2D7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235440" y="2194560"/>
            <a:ext cx="2103120" cy="1005840"/>
          </a:xfrm>
          <a:prstGeom prst="roundRect">
            <a:avLst/>
          </a:prstGeom>
          <a:solidFill>
            <a:srgbClr val="F2F6FA"/>
          </a:solidFill>
          <a:ln>
            <a:solidFill>
              <a:srgbClr val="2D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740"/>
                </a:solidFill>
              </a:defRPr>
            </a:pPr>
            <a:r>
              <a:t>Public</a:t>
            </a:r>
            <a:br/>
            <a:r>
              <a:t>HTTPS URL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740"/>
                </a:solidFill>
              </a:defRPr>
            </a:pPr>
            <a:r>
              <a:t>Live application</a:t>
            </a:r>
          </a:p>
          <a:p>
            <a:pPr>
              <a:defRPr sz="1700">
                <a:solidFill>
                  <a:srgbClr val="2D70BE"/>
                </a:solidFill>
              </a:defRPr>
            </a:pPr>
            <a:r>
              <a:t>https://local-weather-bulletin.onrender.com/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676"/>
                </a:solidFill>
              </a:defRPr>
            </a:pPr>
            <a:r>
              <a:t>Local Weather Bulletin  •  Aadit Shukla                                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2740"/>
                </a:solidFill>
              </a:defRPr>
            </a:pPr>
            <a:r>
              <a:t>9. Demo, Challenges &amp; Lessons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383280" cy="3931920"/>
          </a:xfrm>
          <a:prstGeom prst="roundRect">
            <a:avLst/>
          </a:prstGeom>
          <a:solidFill>
            <a:srgbClr val="F2F6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" cy="3931920"/>
          </a:xfrm>
          <a:prstGeom prst="rect">
            <a:avLst/>
          </a:prstGeom>
          <a:solidFill>
            <a:srgbClr val="2D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8191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740"/>
                </a:solidFill>
              </a:defRPr>
            </a:pPr>
            <a:r>
              <a:t>Live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75688"/>
            <a:ext cx="2971800" cy="3154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D37"/>
                </a:solidFill>
              </a:defRPr>
            </a:pPr>
            <a:r>
              <a:t>• Search a location</a:t>
            </a:r>
            <a:br/>
            <a:r>
              <a:t>• Display weather</a:t>
            </a:r>
            <a:br/>
            <a:r>
              <a:t>• Test /api/health</a:t>
            </a:r>
            <a:br/>
            <a:r>
              <a:t>• Show responsive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383280" cy="3931920"/>
          </a:xfrm>
          <a:prstGeom prst="roundRect">
            <a:avLst/>
          </a:prstGeom>
          <a:solidFill>
            <a:srgbClr val="F2F6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417320"/>
            <a:ext cx="73152" cy="3931920"/>
          </a:xfrm>
          <a:prstGeom prst="rect">
            <a:avLst/>
          </a:prstGeom>
          <a:solidFill>
            <a:srgbClr val="B0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58191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740"/>
                </a:solidFill>
              </a:defRPr>
            </a:pPr>
            <a:r>
              <a:t>Real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075688"/>
            <a:ext cx="2971800" cy="3154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D37"/>
                </a:solidFill>
              </a:defRPr>
            </a:pPr>
            <a:r>
              <a:t>GitHub push protection detected an exposed API credential in repository history. The credential was removed from history and rotated.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17320"/>
            <a:ext cx="3383280" cy="3931920"/>
          </a:xfrm>
          <a:prstGeom prst="roundRect">
            <a:avLst/>
          </a:prstGeom>
          <a:solidFill>
            <a:srgbClr val="F2F6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417320"/>
            <a:ext cx="73152" cy="3931920"/>
          </a:xfrm>
          <a:prstGeom prst="rect">
            <a:avLst/>
          </a:prstGeom>
          <a:solidFill>
            <a:srgbClr val="35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58191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740"/>
                </a:solidFill>
              </a:defRPr>
            </a:pPr>
            <a:r>
              <a:t>What I learned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075688"/>
            <a:ext cx="2971800" cy="3154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D37"/>
                </a:solidFill>
              </a:defRPr>
            </a:pPr>
            <a:r>
              <a:t>• API integration</a:t>
            </a:r>
            <a:br/>
            <a:r>
              <a:t>• Express architecture</a:t>
            </a:r>
            <a:br/>
            <a:r>
              <a:t>• Environment configuration</a:t>
            </a:r>
            <a:br/>
            <a:r>
              <a:t>• Git/GitHub workflows</a:t>
            </a:r>
            <a:br/>
            <a:r>
              <a:t>• Production deployment</a:t>
            </a:r>
            <a:br/>
            <a:r>
              <a:t>• Security practices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676"/>
                </a:solidFill>
              </a:defRPr>
            </a:pPr>
            <a:r>
              <a:t>Local Weather Bulletin  •  Aadit Shukla             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2740"/>
                </a:solidFill>
              </a:defRPr>
            </a:pPr>
            <a:r>
              <a:t>10. Future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62D37"/>
                </a:solidFill>
              </a:defRPr>
            </a:pPr>
            <a:r>
              <a:t>• Automated unit and integration testing.</a:t>
            </a:r>
          </a:p>
          <a:p>
            <a:pPr>
              <a:spcAft>
                <a:spcPts val="1000"/>
              </a:spcAft>
              <a:defRPr sz="1900">
                <a:solidFill>
                  <a:srgbClr val="262D37"/>
                </a:solidFill>
              </a:defRPr>
            </a:pPr>
            <a:r>
              <a:t>• CI/CD pipeline for validation and deployment.</a:t>
            </a:r>
          </a:p>
          <a:p>
            <a:pPr>
              <a:spcAft>
                <a:spcPts val="1000"/>
              </a:spcAft>
              <a:defRPr sz="1900">
                <a:solidFill>
                  <a:srgbClr val="262D37"/>
                </a:solidFill>
              </a:defRPr>
            </a:pPr>
            <a:r>
              <a:t>• Monitoring, structured logs and alerting.</a:t>
            </a:r>
          </a:p>
          <a:p>
            <a:pPr>
              <a:spcAft>
                <a:spcPts val="1000"/>
              </a:spcAft>
              <a:defRPr sz="1900">
                <a:solidFill>
                  <a:srgbClr val="262D37"/>
                </a:solidFill>
              </a:defRPr>
            </a:pPr>
            <a:r>
              <a:t>• Caching to reduce repeated external API calls.</a:t>
            </a:r>
          </a:p>
          <a:p>
            <a:pPr>
              <a:spcAft>
                <a:spcPts val="1000"/>
              </a:spcAft>
              <a:defRPr sz="1900">
                <a:solidFill>
                  <a:srgbClr val="262D37"/>
                </a:solidFill>
              </a:defRPr>
            </a:pPr>
            <a:r>
              <a:t>• Custom domain and improved production observability.</a:t>
            </a:r>
          </a:p>
          <a:p>
            <a:pPr>
              <a:spcAft>
                <a:spcPts val="1000"/>
              </a:spcAft>
              <a:defRPr sz="1900">
                <a:solidFill>
                  <a:srgbClr val="262D37"/>
                </a:solidFill>
              </a:defRPr>
            </a:pPr>
            <a:r>
              <a:t>• Additional weather views, forecasts and accessibility improvements.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676"/>
                </a:solidFill>
              </a:defRPr>
            </a:pPr>
            <a:r>
              <a:t>Local Weather Bulletin  •  Aadit Shukla                            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CDDCF0"/>
                </a:solidFill>
              </a:defRPr>
            </a:pPr>
            <a:r>
              <a:t>Local Weather Bulletin</a:t>
            </a:r>
          </a:p>
          <a:p>
            <a:pPr>
              <a:defRPr sz="1700">
                <a:solidFill>
                  <a:srgbClr val="FFFFFF"/>
                </a:solidFill>
              </a:defRPr>
            </a:pPr>
            <a:r>
              <a:t>A production-deployed full-stack weather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6634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FCDEB"/>
                </a:solidFill>
              </a:defRPr>
            </a:pPr>
            <a:r>
              <a:t>Aadit Shukla  •  https://local-weather-bulletin.onrender.com/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